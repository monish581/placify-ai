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435" r:id="rId3"/>
    <p:sldId id="440" r:id="rId4"/>
    <p:sldId id="505" r:id="rId5"/>
    <p:sldId id="500" r:id="rId6"/>
    <p:sldId id="423" r:id="rId7"/>
    <p:sldId id="424" r:id="rId8"/>
    <p:sldId id="507" r:id="rId9"/>
    <p:sldId id="502" r:id="rId10"/>
    <p:sldId id="518" r:id="rId11"/>
    <p:sldId id="516" r:id="rId12"/>
    <p:sldId id="524" r:id="rId13"/>
    <p:sldId id="508" r:id="rId14"/>
    <p:sldId id="525" r:id="rId15"/>
    <p:sldId id="503" r:id="rId16"/>
    <p:sldId id="511" r:id="rId17"/>
    <p:sldId id="512" r:id="rId18"/>
    <p:sldId id="519" r:id="rId19"/>
    <p:sldId id="520" r:id="rId20"/>
    <p:sldId id="521" r:id="rId21"/>
    <p:sldId id="522" r:id="rId22"/>
    <p:sldId id="523" r:id="rId23"/>
    <p:sldId id="286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97A"/>
    <a:srgbClr val="0F6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374" autoAdjust="0"/>
  </p:normalViewPr>
  <p:slideViewPr>
    <p:cSldViewPr showGuides="1">
      <p:cViewPr varScale="1">
        <p:scale>
          <a:sx n="95" d="100"/>
          <a:sy n="95" d="100"/>
        </p:scale>
        <p:origin x="1075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1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2B52D-869D-4B88-8C00-D5423062A6F3}" type="datetimeFigureOut">
              <a:rPr lang="en-IN" smtClean="0"/>
              <a:t>11-07-2026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FE3BB-70F2-41B7-A4C0-9C96A0128D2C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BFE3BB-70F2-41B7-A4C0-9C96A0128D2C}" type="slidenum">
              <a:rPr lang="en-IN" smtClean="0"/>
              <a:t>1</a:t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BFE3BB-70F2-41B7-A4C0-9C96A0128D2C}" type="slidenum">
              <a:rPr lang="en-IN" smtClean="0"/>
              <a:t>2</a:t>
            </a:fld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305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9EF13-0A10-47C2-BD20-F0F332B05A09}" type="datetime1">
              <a:rPr lang="en-US" smtClean="0"/>
              <a:t>7/11/2026</a:t>
            </a:fld>
            <a:endParaRPr lang="en-IN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C9D03-4559-4B7D-94BC-625A4FF4A56D}" type="datetime1">
              <a:rPr lang="en-US" smtClean="0"/>
              <a:t>7/11/2026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12EB-4B0B-411E-847D-94AC2011B3F5}" type="datetime1">
              <a:rPr lang="en-US" smtClean="0"/>
              <a:t>7/11/2026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633E-6093-46D5-822D-E0C7A46DFEB6}" type="datetime1">
              <a:rPr lang="en-US" smtClean="0"/>
              <a:t>7/11/2026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1964-A130-48AB-9DE8-AF783D74482C}" type="datetime1">
              <a:rPr lang="en-US" smtClean="0"/>
              <a:t>7/11/2026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2EA45-0661-412F-8012-CE4B34C360B1}" type="datetime1">
              <a:rPr lang="en-US" smtClean="0"/>
              <a:t>7/11/2026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E2B48-9FFD-4199-BF2C-146036FBD6C7}" type="datetime1">
              <a:rPr lang="en-US" smtClean="0"/>
              <a:t>7/11/2026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1F12-D149-4878-91DC-7C921BAA5D8B}" type="datetime1">
              <a:rPr lang="en-US" smtClean="0"/>
              <a:t>7/11/2026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4F5C1-B7E4-4B0A-BCFD-ACA51A0438E3}" type="datetime1">
              <a:rPr lang="en-US" smtClean="0"/>
              <a:t>7/11/2026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210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 eaLnBrk="1" latinLnBrk="0" hangingPunct="1"/>
            <a:r>
              <a:rPr kumimoji="0" lang="en-US" dirty="0"/>
              <a:t>Click icon to add picture</a:t>
            </a:r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89884-719A-4076-8FA9-A088315F2476}" type="datetime1">
              <a:rPr lang="en-US" smtClean="0"/>
              <a:t>7/11/2026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3BC4-8BC9-4B84-BE57-031B4F4D2F57}" type="datetime1">
              <a:rPr lang="en-US" smtClean="0"/>
              <a:t>7/11/2026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13A57-2296-4D5E-9BA3-2DCEA4C258C9}" type="datetime1">
              <a:rPr lang="en-US" smtClean="0"/>
              <a:t>7/11/2026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Sri Shakthi Institute of Engineering and Technology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fld id="{2A913A57-2296-4D5E-9BA3-2DCEA4C258C9}" type="datetime1">
              <a:rPr lang="en-US" smtClean="0"/>
              <a:t>7/11/2026</a:t>
            </a:fld>
            <a:endParaRPr lang="en-IN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r>
              <a:rPr lang="en-US"/>
              <a:t>Sri Shakthi Institute of Engineering and Technology</a:t>
            </a:r>
            <a:endParaRPr lang="en-IN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fld id="{AAD46BCD-4541-4A48-8964-2EE77EFA51DC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83210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 panose="05020102010507070707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490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 panose="020B0604030504040204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7095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 panose="05020102010507070707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990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1077" y="223942"/>
            <a:ext cx="7165074" cy="838200"/>
          </a:xfrm>
        </p:spPr>
        <p:txBody>
          <a:bodyPr>
            <a:noAutofit/>
          </a:bodyPr>
          <a:lstStyle/>
          <a:p>
            <a:pPr algn="ctr"/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2875" y="1795490"/>
            <a:ext cx="8050087" cy="1023910"/>
          </a:xfrm>
        </p:spPr>
        <p:txBody>
          <a:bodyPr>
            <a:normAutofit fontScale="92500" lnSpcReduction="10000"/>
          </a:bodyPr>
          <a:lstStyle/>
          <a:p>
            <a:pPr algn="ctr"/>
            <a:endParaRPr lang="en-IN" sz="20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Placify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AI-Driven Placement Preparation System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/>
          <p:cNvSpPr txBox="1"/>
          <p:nvPr/>
        </p:nvSpPr>
        <p:spPr>
          <a:xfrm>
            <a:off x="2895600" y="6324600"/>
            <a:ext cx="3810000" cy="47625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5257800" y="6427930"/>
            <a:ext cx="3352800" cy="353869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</a:t>
            </a:fld>
            <a:endParaRPr lang="en-IN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30069"/>
            <a:ext cx="8077200" cy="1255779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5B9532A1-6645-DACF-346D-2535307E6847}"/>
              </a:ext>
            </a:extLst>
          </p:cNvPr>
          <p:cNvSpPr txBox="1">
            <a:spLocks/>
          </p:cNvSpPr>
          <p:nvPr/>
        </p:nvSpPr>
        <p:spPr>
          <a:xfrm>
            <a:off x="988678" y="3026610"/>
            <a:ext cx="3810000" cy="2307390"/>
          </a:xfrm>
          <a:prstGeom prst="rect">
            <a:avLst/>
          </a:prstGeom>
        </p:spPr>
        <p:txBody>
          <a:bodyPr tIns="0">
            <a:normAutofit/>
          </a:bodyPr>
          <a:lstStyle>
            <a:lvl1pPr marL="27305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0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C7B119D-266B-6428-AD98-8F80BD4C9372}"/>
              </a:ext>
            </a:extLst>
          </p:cNvPr>
          <p:cNvSpPr txBox="1">
            <a:spLocks/>
          </p:cNvSpPr>
          <p:nvPr/>
        </p:nvSpPr>
        <p:spPr>
          <a:xfrm>
            <a:off x="5032248" y="3042652"/>
            <a:ext cx="3810000" cy="2307390"/>
          </a:xfrm>
          <a:prstGeom prst="rect">
            <a:avLst/>
          </a:prstGeom>
        </p:spPr>
        <p:txBody>
          <a:bodyPr tIns="0">
            <a:normAutofit/>
          </a:bodyPr>
          <a:lstStyle>
            <a:lvl1pPr marL="27305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0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49972EF-B70C-0E51-305F-F29E1ADEC127}"/>
              </a:ext>
            </a:extLst>
          </p:cNvPr>
          <p:cNvSpPr txBox="1">
            <a:spLocks/>
          </p:cNvSpPr>
          <p:nvPr/>
        </p:nvSpPr>
        <p:spPr>
          <a:xfrm>
            <a:off x="1093913" y="3463756"/>
            <a:ext cx="3325687" cy="1870243"/>
          </a:xfrm>
          <a:prstGeom prst="rect">
            <a:avLst/>
          </a:prstGeom>
        </p:spPr>
        <p:txBody>
          <a:bodyPr tIns="0">
            <a:normAutofit/>
          </a:bodyPr>
          <a:lstStyle>
            <a:lvl1pPr marL="27305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0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850C3D0-E440-E40D-C58F-DCB984327A65}"/>
              </a:ext>
            </a:extLst>
          </p:cNvPr>
          <p:cNvSpPr txBox="1">
            <a:spLocks/>
          </p:cNvSpPr>
          <p:nvPr/>
        </p:nvSpPr>
        <p:spPr>
          <a:xfrm>
            <a:off x="1061745" y="3139829"/>
            <a:ext cx="4576011" cy="2905855"/>
          </a:xfrm>
          <a:prstGeom prst="rect">
            <a:avLst/>
          </a:prstGeom>
        </p:spPr>
        <p:txBody>
          <a:bodyPr tIns="0">
            <a:normAutofit/>
          </a:bodyPr>
          <a:lstStyle>
            <a:lvl1pPr marL="27305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MONISH R		- 714024104134</a:t>
            </a:r>
          </a:p>
          <a:p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NANDHA KUMAR J	- 714024104136</a:t>
            </a:r>
          </a:p>
          <a:p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PRANESH I		- 714024104160</a:t>
            </a:r>
          </a:p>
          <a:p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PRASANNA B		- 714024104162</a:t>
            </a:r>
          </a:p>
          <a:p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RISHI S			- 714024104176</a:t>
            </a:r>
          </a:p>
          <a:p>
            <a:r>
              <a:rPr lang="en-US" sz="18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IIInd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YEAR CSE-’C’ </a:t>
            </a:r>
          </a:p>
          <a:p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SIET</a:t>
            </a:r>
          </a:p>
          <a:p>
            <a:endParaRPr lang="en-US" sz="20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8A79D84-C7DA-906A-258A-77D4FCE35515}"/>
              </a:ext>
            </a:extLst>
          </p:cNvPr>
          <p:cNvSpPr txBox="1">
            <a:spLocks/>
          </p:cNvSpPr>
          <p:nvPr/>
        </p:nvSpPr>
        <p:spPr>
          <a:xfrm>
            <a:off x="5637234" y="3139828"/>
            <a:ext cx="3205537" cy="1931298"/>
          </a:xfrm>
          <a:prstGeom prst="rect">
            <a:avLst/>
          </a:prstGeom>
        </p:spPr>
        <p:txBody>
          <a:bodyPr tIns="0">
            <a:normAutofit/>
          </a:bodyPr>
          <a:lstStyle>
            <a:lvl1pPr marL="27305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 :</a:t>
            </a:r>
          </a:p>
          <a:p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B SANJAY KRISHNA AP/CSE, SIET</a:t>
            </a:r>
          </a:p>
          <a:p>
            <a:endParaRPr lang="en-US" sz="20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1219200"/>
            <a:ext cx="7498080" cy="5105400"/>
          </a:xfrm>
        </p:spPr>
        <p:txBody>
          <a:bodyPr>
            <a:normAutofit fontScale="92500" lnSpcReduction="10000"/>
          </a:bodyPr>
          <a:lstStyle/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AND ITS DRAWBACKS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DISCRIPTION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marL="82550" indent="0" algn="just">
              <a:buClr>
                <a:schemeClr val="accent6">
                  <a:lumMod val="75000"/>
                </a:schemeClr>
              </a:buCl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 indent="0" algn="just">
              <a:buClr>
                <a:schemeClr val="accent6">
                  <a:lumMod val="75000"/>
                </a:schemeClr>
              </a:buCl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  <a:p>
            <a:pPr algn="just">
              <a:buClr>
                <a:schemeClr val="accent6">
                  <a:lumMod val="75000"/>
                </a:schemeClr>
              </a:buCl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None/>
            </a:pPr>
            <a:endParaRPr lang="en-US" sz="28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57800" y="6324600"/>
            <a:ext cx="3352800" cy="45720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2</a:t>
            </a:fld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79388"/>
            <a:ext cx="749808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322388"/>
            <a:ext cx="7026477" cy="4800600"/>
          </a:xfrm>
        </p:spPr>
        <p:txBody>
          <a:bodyPr>
            <a:noAutofit/>
          </a:bodyPr>
          <a:lstStyle/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students to prepare for campus placements through an AI-powered platform that integrates coding practice, resume analysis, mock interviews, and personalized learning resources.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placement readiness by providing intelligent career guidance, company-specific preparation, real-time performance tracking, and AI-generated feedback using Google Gemini.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placement preparation process by offering a centralized, interactive, and personalized learning environment that enhances students' technical, aptitude, and interview skills.</a:t>
            </a:r>
          </a:p>
          <a:p>
            <a:pPr marL="82550" indent="0">
              <a:buClr>
                <a:schemeClr val="accent6">
                  <a:lumMod val="75000"/>
                </a:schemeClr>
              </a:buClr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3352800" cy="38100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3</a:t>
            </a:fld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02076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295400"/>
            <a:ext cx="6934200" cy="5010150"/>
          </a:xfrm>
        </p:spPr>
        <p:txBody>
          <a:bodyPr>
            <a:noAutofit/>
          </a:bodyPr>
          <a:lstStyle/>
          <a:p>
            <a:pPr marL="82550" indent="0" algn="just">
              <a:buClr>
                <a:schemeClr val="accent6">
                  <a:lumMod val="75000"/>
                </a:schemeClr>
              </a:buClr>
              <a:buNone/>
              <a:tabLst>
                <a:tab pos="6818313" algn="l"/>
              </a:tabLst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Placify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is an AI-powered placement preparation system designed to help students enhance their technical, aptitude, and interview skills through a single integrated application. It offers coding practice, personalized learning paths, resume analysis, and AI-based mock interviews to improve overall placement readiness.</a:t>
            </a:r>
          </a:p>
          <a:p>
            <a:pPr marL="82550" indent="0" algn="just">
              <a:buClr>
                <a:schemeClr val="accent6">
                  <a:lumMod val="75000"/>
                </a:schemeClr>
              </a:buClr>
              <a:buNone/>
              <a:tabLst>
                <a:tab pos="6818313" algn="l"/>
              </a:tabLst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leverages Google Gemini AI to provide intelligent career guidance, resume feedback, interview question generation, and personalized recommendations based on user performance. With company-specific preparation, progress tracking, and an interactive dashboard,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Placify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delivers a comprehensive and efficient solution for campus placement preparation.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57800" y="6477000"/>
            <a:ext cx="3352800" cy="30480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4</a:t>
            </a:fld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168" y="76200"/>
            <a:ext cx="749808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028700"/>
            <a:ext cx="6946392" cy="4800600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  <a:buClr>
                <a:schemeClr val="accent6"/>
              </a:buClr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placement preparation often requires students to use multiple platforms for coding practice, aptitude learning, resume building, interview preparation, and career guidance, making the process time-consuming and less organized.</a:t>
            </a:r>
          </a:p>
          <a:p>
            <a:pPr algn="just">
              <a:lnSpc>
                <a:spcPct val="110000"/>
              </a:lnSpc>
              <a:buClr>
                <a:schemeClr val="accent6"/>
              </a:buClr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struggle to identify their strengths, track their progress, and receive personalized feedback, which reduces their confidence and placement readiness.</a:t>
            </a:r>
          </a:p>
          <a:p>
            <a:pPr algn="just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Placify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these challenges by integrating AI-powered mentorship, coding practice, resume analysis, mock interviews, company-specific preparation, and progress tracking into a single intelligent platform, providing a personalized and efficient placement preparation experience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57800" y="6477000"/>
            <a:ext cx="3352800" cy="30480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5</a:t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7333488" cy="11430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AND ITS DRAWBACKS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4158" y="1828800"/>
            <a:ext cx="6934200" cy="426402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rely on multiple platforms for coding practice, aptitude preparation, resume building, and interview preparation, making the learning process fragmented and inefficient.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platforms provide generic learning resources with limited personalization, making it difficult for students to identify their weaknesses and improve effectively.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resume reviews and mock interviews require mentors or trainers, which may not always be available and can be time-consuming.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an integrated AI-driven solution that combines coding practice, resume analysis, interview preparation, company-specific guidance, and progress tracking within a single platform.</a:t>
            </a:r>
          </a:p>
          <a:p>
            <a:pPr marL="82550" indent="0"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 indent="0"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 indent="0"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57800" y="6477000"/>
            <a:ext cx="3352800" cy="30480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6</a:t>
            </a:fld>
            <a:endParaRPr lang="en-IN" dirty="0"/>
          </a:p>
        </p:txBody>
      </p:sp>
      <p:sp>
        <p:nvSpPr>
          <p:cNvPr id="8" name="Content Placeholder 2"/>
          <p:cNvSpPr txBox="1"/>
          <p:nvPr/>
        </p:nvSpPr>
        <p:spPr>
          <a:xfrm>
            <a:off x="1447800" y="1484313"/>
            <a:ext cx="7485888" cy="475456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 algn="just">
              <a:buClr>
                <a:schemeClr val="accent6">
                  <a:lumMod val="75000"/>
                </a:schemeClr>
              </a:buClr>
              <a:buFont typeface="Wingdings 2" panose="05020102010507070707"/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1484290" y="1417638"/>
            <a:ext cx="7485888" cy="475456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 algn="just">
              <a:buClr>
                <a:schemeClr val="accent6">
                  <a:lumMod val="75000"/>
                </a:schemeClr>
              </a:buClr>
              <a:buFont typeface="Wingdings 2" panose="05020102010507070707"/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81000"/>
            <a:ext cx="726948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447800"/>
            <a:ext cx="6565392" cy="4953000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en-US" sz="5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Placify</a:t>
            </a:r>
            <a:r>
              <a:rPr lang="en-US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introduces an AI-powered placement preparation platform that integrates coding practice, resume analysis, mock interviews, and personalized learning into a single application.</a:t>
            </a:r>
          </a:p>
          <a:p>
            <a:pPr algn="just"/>
            <a:r>
              <a:rPr lang="en-US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leverages Google Gemini AI to provide intelligent career guidance, resume feedback, interview question generation, and personalized recommendations based on user performance.</a:t>
            </a:r>
          </a:p>
          <a:p>
            <a:pPr algn="just"/>
            <a:r>
              <a:rPr lang="en-US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prepare for placements through company-specific resources, coding challenges, aptitude practice, and real-time progress tracking, helping them identify and improve their weak areas.</a:t>
            </a:r>
          </a:p>
          <a:p>
            <a:pPr algn="just"/>
            <a:r>
              <a:rPr lang="en-US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centralized, interactive, and personalized learning environment that enhances placement readiness while reducing dependence on multiple learning platforms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9855" indent="0" algn="just">
              <a:buClr>
                <a:schemeClr val="accent6">
                  <a:lumMod val="75000"/>
                </a:schemeClr>
              </a:buClr>
              <a:buNone/>
            </a:pP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 indent="0" algn="just">
              <a:buClr>
                <a:schemeClr val="accent6">
                  <a:lumMod val="75000"/>
                </a:schemeClr>
              </a:buClr>
              <a:buNone/>
            </a:pPr>
            <a:endParaRPr lang="en-US" sz="2800" dirty="0"/>
          </a:p>
          <a:p>
            <a:pPr>
              <a:buNone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57800" y="6477000"/>
            <a:ext cx="3352800" cy="30480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7</a:t>
            </a:fld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81000"/>
            <a:ext cx="726948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371600"/>
            <a:ext cx="7498080" cy="4876800"/>
          </a:xfrm>
        </p:spPr>
        <p:txBody>
          <a:bodyPr>
            <a:normAutofit/>
          </a:bodyPr>
          <a:lstStyle/>
          <a:p>
            <a:pPr marL="0" indent="0" algn="just">
              <a:buClr>
                <a:schemeClr val="accent6">
                  <a:lumMod val="75000"/>
                </a:schemeClr>
              </a:buCl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0" indent="0" algn="just">
              <a:buClr>
                <a:schemeClr val="accent6">
                  <a:lumMod val="75000"/>
                </a:schemeClr>
              </a:buClr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accent6">
                  <a:lumMod val="75000"/>
                </a:schemeClr>
              </a:buClr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React.js, TypeScript, HTML5, Tailwind CSS</a:t>
            </a:r>
          </a:p>
          <a:p>
            <a:pPr marL="342900" indent="-342900" algn="just">
              <a:buClr>
                <a:schemeClr val="accent6">
                  <a:lumMod val="75000"/>
                </a:schemeClr>
              </a:buClr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Node.js, Express.js</a:t>
            </a:r>
          </a:p>
          <a:p>
            <a:pPr marL="342900" indent="-342900" algn="just">
              <a:buClr>
                <a:schemeClr val="accent6">
                  <a:lumMod val="75000"/>
                </a:schemeClr>
              </a:buClr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MongoDB</a:t>
            </a:r>
          </a:p>
          <a:p>
            <a:pPr marL="342900" indent="-342900" algn="just">
              <a:buClr>
                <a:schemeClr val="accent6">
                  <a:lumMod val="75000"/>
                </a:schemeClr>
              </a:buClr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Google Gemini API</a:t>
            </a:r>
          </a:p>
          <a:p>
            <a:pPr marL="342900" indent="-342900" algn="just">
              <a:buClr>
                <a:schemeClr val="accent6">
                  <a:lumMod val="75000"/>
                </a:schemeClr>
              </a:buClr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TypeScript, JavaScript</a:t>
            </a:r>
          </a:p>
          <a:p>
            <a:pPr marL="342900" indent="-342900" algn="just">
              <a:buClr>
                <a:schemeClr val="accent6">
                  <a:lumMod val="75000"/>
                </a:schemeClr>
              </a:buClr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Platforms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VS Code, Git, GitHub,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endParaRPr lang="en-US" sz="2800" dirty="0"/>
          </a:p>
          <a:p>
            <a:pPr>
              <a:buNone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3352800" cy="38100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8</a:t>
            </a:fld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3060" y="152400"/>
            <a:ext cx="7269480" cy="990600"/>
          </a:xfrm>
        </p:spPr>
        <p:txBody>
          <a:bodyPr>
            <a:noAutofit/>
          </a:bodyPr>
          <a:lstStyle/>
          <a:p>
            <a:pPr algn="ctr">
              <a:buClr>
                <a:schemeClr val="accent6">
                  <a:lumMod val="75000"/>
                </a:schemeClr>
              </a:buClr>
            </a:pP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066800"/>
            <a:ext cx="6946392" cy="5105400"/>
          </a:xfrm>
        </p:spPr>
        <p:txBody>
          <a:bodyPr>
            <a:noAutofit/>
          </a:bodyPr>
          <a:lstStyle/>
          <a:p>
            <a:pPr marL="109855" indent="0" algn="just">
              <a:buClr>
                <a:schemeClr val="accent6">
                  <a:lumMod val="75000"/>
                </a:schemeClr>
              </a:buClr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[1].Brown, T. B., et al. (2020). Language Models are Few-Shot Learners. Advances in Neural Information Processing Systems (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vol. 33, pp. 1877–1901.</a:t>
            </a:r>
          </a:p>
          <a:p>
            <a:pPr marL="109855" indent="0" algn="just">
              <a:buClr>
                <a:schemeClr val="accent6">
                  <a:lumMod val="75000"/>
                </a:schemeClr>
              </a:buClr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 OpenAI. (2023). GPT-4 Technical Report. arXiv:2303.08774, pp. 1–100.</a:t>
            </a:r>
          </a:p>
          <a:p>
            <a:pPr marL="109855" indent="0" algn="just">
              <a:buClr>
                <a:schemeClr val="accent6">
                  <a:lumMod val="75000"/>
                </a:schemeClr>
              </a:buClr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Devlin, J., Chang, M. W., Lee, K., &amp; Toutanova, K. (2019). BERT: Pre-training of Deep Bidirectional Transformers for Language Understanding. Proceedings of NAACL-HLT, vol. 1, pp. 4171–4186.</a:t>
            </a:r>
          </a:p>
          <a:p>
            <a:pPr marL="109855" indent="0" algn="just">
              <a:buClr>
                <a:schemeClr val="accent6">
                  <a:lumMod val="75000"/>
                </a:schemeClr>
              </a:buClr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OpenAI. (2026). “Advances in Reasoning Models and Reinforcement Learning.” Technical Report, vol. 1, no. 1, pp. 1–30.</a:t>
            </a:r>
          </a:p>
          <a:p>
            <a:pPr marL="109855" indent="0" algn="just">
              <a:buClr>
                <a:schemeClr val="accent6">
                  <a:lumMod val="75000"/>
                </a:schemeClr>
              </a:buClr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Radford, A., et al. (2019). Language Models are Unsupervised Multitask Learners. OpenAI Technical Report, pp. 1–24.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57800" y="6305550"/>
            <a:ext cx="3352800" cy="47625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9</a:t>
            </a:fld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BFF63-0AFA-479A-EC65-1CD361A7A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3B99-84DB-E8AE-5991-D9E389724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36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40BC6-3C0B-9C81-C5B1-755E83E01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1600" y="6477000"/>
            <a:ext cx="3429000" cy="30480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3C3A92-B482-8690-B738-BB29C9AE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10</a:t>
            </a:fld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9FEB2D-2691-8BFC-2695-9095FC482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04757"/>
              </p:ext>
            </p:extLst>
          </p:nvPr>
        </p:nvGraphicFramePr>
        <p:xfrm>
          <a:off x="990600" y="1500982"/>
          <a:ext cx="8153400" cy="4648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19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3293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67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DeepMind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Gemma 3: The Most Capable Model You Can Run on a Single GPU or TPU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Gemma 3, LLM, Multilingual AI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reasoning compared to larger frontier models</a:t>
                      </a:r>
                      <a:r>
                        <a:rPr lang="en-US" dirty="0"/>
                        <a:t>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090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2C7E9-3D4A-6F1F-1818-E8D65C655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4D6F7-CE6A-2879-F653-5E42F8C4B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36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960CC-F49E-4034-4B56-5792BCD3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3352800" cy="38100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E41C0-EB2A-20B1-69B8-967E88588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11</a:t>
            </a:fld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1B8E75-23DD-A026-4118-2AEF32EBA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255133"/>
              </p:ext>
            </p:extLst>
          </p:nvPr>
        </p:nvGraphicFramePr>
        <p:xfrm>
          <a:off x="990600" y="1500982"/>
          <a:ext cx="8153400" cy="4648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19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3293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67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Fei, H.,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Path to Multimodal Generalist: General-Level and General-Bench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LLM,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extensive benchmark datasets and high-end hardware.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628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7EC7-97B9-A478-8996-6ACF537B9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26F429-3C20-A22A-E1CA-9084EA7B2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719" y="1447800"/>
            <a:ext cx="5536112" cy="48006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B9A2E0-A562-11AF-22FF-51CB26CC2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305550"/>
            <a:ext cx="3352800" cy="47625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9A513-994E-EFCE-D4B8-57A5610A7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8037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81000"/>
            <a:ext cx="726948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371600"/>
            <a:ext cx="6946392" cy="4876800"/>
          </a:xfrm>
        </p:spPr>
        <p:txBody>
          <a:bodyPr>
            <a:normAutofit lnSpcReduction="10000"/>
          </a:bodyPr>
          <a:lstStyle/>
          <a:p>
            <a:pPr marL="8255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Authentication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secure user registration and login.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user profiles and personalized placement progress.</a:t>
            </a:r>
          </a:p>
          <a:p>
            <a:pPr marL="8255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Learning &amp; Coding Module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coding challenges, aptitude practice, and structured learning paths.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coding performance and skill improvement. </a:t>
            </a:r>
          </a:p>
          <a:p>
            <a:pPr marL="8255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AI Resume Analyzer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Google Gemini AI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resumes.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improvements in skills, formatting, and content. </a:t>
            </a:r>
          </a:p>
          <a:p>
            <a:endParaRPr lang="en-IN" sz="2400" b="1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 indent="0" algn="just">
              <a:buClr>
                <a:schemeClr val="accent6">
                  <a:lumMod val="75000"/>
                </a:schemeClr>
              </a:buCl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57800" y="6305550"/>
            <a:ext cx="3352800" cy="47625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13</a:t>
            </a:fld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E7E5-CC41-FAC2-FC62-2ACB4B2EE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C30FF-BE13-BE50-6D64-53A0285DC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81000"/>
            <a:ext cx="726948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A5F6C-2E5D-D667-0214-2B690D3CE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1371600"/>
            <a:ext cx="6946392" cy="4876800"/>
          </a:xfrm>
        </p:spPr>
        <p:txBody>
          <a:bodyPr>
            <a:normAutofit fontScale="92500"/>
          </a:bodyPr>
          <a:lstStyle/>
          <a:p>
            <a:pPr marL="8255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AI Mock Interview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role-specific interview questions.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responses and provides personalized feedback. </a:t>
            </a:r>
          </a:p>
          <a:p>
            <a:pPr marL="8255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AI Mentor &amp; Career Guidance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an intelligent assistant for placement preparation.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career advice, learning recommendations, and company-specific guidance. </a:t>
            </a:r>
          </a:p>
          <a:p>
            <a:pPr marL="8255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Placement Dashboard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placement readiness, progress reports, achievements, and learning statistics.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monitor their overall preparation and identify weak areas</a:t>
            </a:r>
            <a:r>
              <a:rPr lang="en-IN" sz="2400" dirty="0"/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 indent="0" algn="just">
              <a:buClr>
                <a:schemeClr val="accent6">
                  <a:lumMod val="75000"/>
                </a:schemeClr>
              </a:buCl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634F5-18AC-9FCC-EFC2-84C0D661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305550"/>
            <a:ext cx="3352800" cy="47625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76F97-8D5A-24D3-8D81-9A04044A0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779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81000"/>
            <a:ext cx="726948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371600"/>
            <a:ext cx="6946392" cy="4191000"/>
          </a:xfrm>
        </p:spPr>
        <p:txBody>
          <a:bodyPr>
            <a:normAutofit fontScale="55000" lnSpcReduction="20000"/>
          </a:bodyPr>
          <a:lstStyle/>
          <a:p>
            <a:pPr marL="567055" indent="-457200" algn="just">
              <a:buClr>
                <a:schemeClr val="accent6">
                  <a:lumMod val="75000"/>
                </a:schemeClr>
              </a:buClr>
            </a:pP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Resume Analyzer that evaluates resumes and provides personalized improvement suggestions.</a:t>
            </a:r>
          </a:p>
          <a:p>
            <a:pPr marL="567055" indent="-457200" algn="just">
              <a:buClr>
                <a:schemeClr val="accent6">
                  <a:lumMod val="75000"/>
                </a:schemeClr>
              </a:buClr>
            </a:pP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Mock Interview system that generates role-specific interview questions and offers real-time feedback.</a:t>
            </a:r>
          </a:p>
          <a:p>
            <a:pPr marL="567055" indent="-457200" algn="just">
              <a:buClr>
                <a:schemeClr val="accent6">
                  <a:lumMod val="75000"/>
                </a:schemeClr>
              </a:buClr>
            </a:pP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Practice with company-specific problems, aptitude preparation, and structured learning paths.</a:t>
            </a:r>
          </a:p>
          <a:p>
            <a:pPr marL="567055" indent="-457200" algn="just">
              <a:buClr>
                <a:schemeClr val="accent6">
                  <a:lumMod val="75000"/>
                </a:schemeClr>
              </a:buClr>
            </a:pP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Mentor that provides personalized career guidance, learning recommendations, and placement preparation support using Google Gemini.</a:t>
            </a:r>
          </a:p>
          <a:p>
            <a:pPr marL="567055" indent="-457200" algn="just">
              <a:buClr>
                <a:schemeClr val="accent6">
                  <a:lumMod val="75000"/>
                </a:schemeClr>
              </a:buClr>
            </a:pP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 Dashboard to monitor coding performance, interview readiness, learning progress, and achievements.</a:t>
            </a:r>
          </a:p>
          <a:p>
            <a:pPr marL="567055" indent="-457200" algn="just">
              <a:buClr>
                <a:schemeClr val="accent6">
                  <a:lumMod val="75000"/>
                </a:schemeClr>
              </a:buClr>
            </a:pP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and User-Friendly Interface that integrates all placement preparation resources into a single platform for an efficient learning experience.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57800" y="6305550"/>
            <a:ext cx="3352800" cy="47625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15</a:t>
            </a:fld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81000"/>
            <a:ext cx="726948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371600"/>
            <a:ext cx="6946392" cy="4495800"/>
          </a:xfrm>
        </p:spPr>
        <p:txBody>
          <a:bodyPr>
            <a:normAutofit fontScale="92500" lnSpcReduction="20000"/>
          </a:bodyPr>
          <a:lstStyle/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Placify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AI-powered and integrated platform that simplifies placement preparation by combining coding practice, resume analysis, mock interviews, and personalized learning in one application.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leverages Google Gemini AI to deliver intelligent career guidance, personalized feedback, and company-specific preparation, helping students improve their placement readiness effectively.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tracking user progress and identifying areas for improvement,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Placify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students to develop technical, aptitude, and interview skills in a structured and efficient manner.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Artificial Intelligence can transform traditional placement preparation into a smarter, more personalized, and engaging learning experience.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57800" y="6305550"/>
            <a:ext cx="3352800" cy="47625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16</a:t>
            </a:fld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81000"/>
            <a:ext cx="726948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371600"/>
            <a:ext cx="6946392" cy="4876800"/>
          </a:xfrm>
        </p:spPr>
        <p:txBody>
          <a:bodyPr>
            <a:normAutofit fontScale="92500"/>
          </a:bodyPr>
          <a:lstStyle/>
          <a:p>
            <a:pPr marL="82550" indent="0" algn="just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provides AI-powered resume analysis, mock interviews, and personalized placement guidance using Google Gemini AI.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improve their coding, aptitude, interview, and resume-building skills through an integrated and interactive learning platform.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delivers company-specific preparation, real-time progress tracking, and personalized recommendations, helping users identify and improve their weak areas.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Placify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placement readiness, learning efficiency, and career preparation by providing a centralized AI-driven solution for students.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57800" y="6305550"/>
            <a:ext cx="3352800" cy="47625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17</a:t>
            </a:fld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296B3-642A-C600-77F5-71B584D21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 IN PAGE :</a:t>
            </a:r>
            <a:endParaRPr lang="en-IN" sz="3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099B15-1A8E-D96F-2539-0A7358C94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" y="1956634"/>
            <a:ext cx="7980455" cy="383456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65453-9EA5-EF7C-5FEA-B28CAE03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305550"/>
            <a:ext cx="3352800" cy="476250"/>
          </a:xfrm>
        </p:spPr>
        <p:txBody>
          <a:bodyPr/>
          <a:lstStyle/>
          <a:p>
            <a:r>
              <a:rPr lang="en-US"/>
              <a:t>Sri Shakthi Institute of Engineering and Technology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ABD5-ECFB-CF8C-D7E4-ABEDA5E6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0044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A73C-01C1-805A-A44C-18A88A939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 UP PAGE :</a:t>
            </a:r>
            <a:endParaRPr lang="en-IN" sz="3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077A7E-5CF7-E261-9884-61C5F1882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859" y="1516982"/>
            <a:ext cx="5653577" cy="48006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23D1F-8DA8-8D8A-2688-AEDA245B0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1600" y="6305550"/>
            <a:ext cx="3429000" cy="47625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37452-710D-105B-F2A6-D6316A3F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2279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91EF4-7500-CA1D-6182-3A87FC0E1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PAGE :</a:t>
            </a:r>
            <a:endParaRPr lang="en-IN" sz="3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84CF29-F808-7267-2E4A-9FDAE68ABD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8" y="1752600"/>
            <a:ext cx="8001000" cy="414051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645392-73A6-4D32-E47A-3D134660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1600" y="6305550"/>
            <a:ext cx="3429000" cy="47625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21707-F7C6-A630-1874-5591178FD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886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2AA3-B358-B85F-70B4-AB0DE7EE7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LIBRARY :</a:t>
            </a:r>
            <a:endParaRPr lang="en-IN" sz="3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43B3AE-2485-4B9E-2490-D06BAF274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139" y="1504950"/>
            <a:ext cx="6417018" cy="48006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87B388-F474-75E9-14A4-A7A42A4AD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305550"/>
            <a:ext cx="3352800" cy="47625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3F7386-5DF2-250E-FFFD-C08118B4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541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2C7A-51F4-95B5-45EC-1C417F95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PROMT REFINEMENT PAGE :</a:t>
            </a:r>
            <a:endParaRPr lang="en-IN" sz="3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58B0BFF-2220-C917-C99F-D2FDDBE4DB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931078"/>
            <a:ext cx="8004048" cy="409206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1245C-C3C7-1240-5283-9A9576804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1600" y="6305550"/>
            <a:ext cx="3429000" cy="47625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CE345-D075-0E5D-A01B-6E83C3B84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576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628900" y="266700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</a:p>
        </p:txBody>
      </p:sp>
      <p:sp>
        <p:nvSpPr>
          <p:cNvPr id="9" name="Date Placeholder 3"/>
          <p:cNvSpPr txBox="1"/>
          <p:nvPr/>
        </p:nvSpPr>
        <p:spPr>
          <a:xfrm>
            <a:off x="2895600" y="6324600"/>
            <a:ext cx="3810000" cy="47625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3"/>
          <p:cNvSpPr txBox="1"/>
          <p:nvPr/>
        </p:nvSpPr>
        <p:spPr>
          <a:xfrm>
            <a:off x="8583488" y="6381750"/>
            <a:ext cx="381000" cy="47625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181600" y="6305550"/>
            <a:ext cx="3429000" cy="476250"/>
          </a:xfrm>
        </p:spPr>
        <p:txBody>
          <a:bodyPr/>
          <a:lstStyle/>
          <a:p>
            <a:r>
              <a:rPr lang="en-US" dirty="0"/>
              <a:t>Sri Shakthi Institute of Engineering and Technology</a:t>
            </a:r>
            <a:endParaRPr lang="en-IN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BCD-4541-4A48-8964-2EE77EFA51DC}" type="slidenum">
              <a:rPr lang="en-IN" smtClean="0"/>
              <a:t>23</a:t>
            </a:fld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lnDef>
      <a:spPr>
        <a:ln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1527</Words>
  <Application>Microsoft Office PowerPoint</Application>
  <PresentationFormat>On-screen Show (4:3)</PresentationFormat>
  <Paragraphs>190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Gill Sans MT</vt:lpstr>
      <vt:lpstr>Times New Roman</vt:lpstr>
      <vt:lpstr>Verdana</vt:lpstr>
      <vt:lpstr>Wingdings 2</vt:lpstr>
      <vt:lpstr>Solstice</vt:lpstr>
      <vt:lpstr>   </vt:lpstr>
      <vt:lpstr>AGENDA</vt:lpstr>
      <vt:lpstr>OBJECTIVE</vt:lpstr>
      <vt:lpstr>ABSTRACT</vt:lpstr>
      <vt:lpstr>INTRODUCTION</vt:lpstr>
      <vt:lpstr>EXISTING SYSTEM AND ITS DRAWBACKS</vt:lpstr>
      <vt:lpstr>  PROPOSED SYSTEM</vt:lpstr>
      <vt:lpstr>TECH STACK</vt:lpstr>
      <vt:lpstr>REFERENCE</vt:lpstr>
      <vt:lpstr>LITERATURE SURVEY</vt:lpstr>
      <vt:lpstr>LITERATURE SURVEY</vt:lpstr>
      <vt:lpstr>FLOW CHART</vt:lpstr>
      <vt:lpstr>MODULE DESCRIPTION</vt:lpstr>
      <vt:lpstr>MODULE DESCRIPTION</vt:lpstr>
      <vt:lpstr>FEATURES</vt:lpstr>
      <vt:lpstr>CONCLUSION</vt:lpstr>
      <vt:lpstr>RESULT</vt:lpstr>
      <vt:lpstr>SIGN IN PAGE :</vt:lpstr>
      <vt:lpstr>SIGN UP PAGE :</vt:lpstr>
      <vt:lpstr>HOME PAGE :</vt:lpstr>
      <vt:lpstr>PROJECTS LIBRARY :</vt:lpstr>
      <vt:lpstr>PROMT REFINEMENT PAGE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Prasanna</dc:creator>
  <cp:lastModifiedBy>Prasanna B</cp:lastModifiedBy>
  <cp:revision>1069</cp:revision>
  <dcterms:created xsi:type="dcterms:W3CDTF">2013-08-11T13:41:00Z</dcterms:created>
  <dcterms:modified xsi:type="dcterms:W3CDTF">2026-07-11T09:41:27Z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C953B7CFC22440D6A646641E7A54247C_12</vt:lpwstr>
  </property>
  <property fmtid="{D5CDD505-2E9C-101B-9397-08002B2CF9AE}" pid="3" name="KSOProductBuildVer">
    <vt:lpwstr>1033-12.2.0.22549</vt:lpwstr>
  </property>
</Properties>
</file>